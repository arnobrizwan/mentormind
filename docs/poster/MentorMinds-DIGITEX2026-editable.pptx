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3625" cy="302799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-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383625" cy="302799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57300" y="4438650"/>
            <a:ext cx="1428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020" b="1" i="0">
                <a:solidFill>
                  <a:srgbClr val="FF5CA3"/>
                </a:solidFill>
                <a:latin typeface="Poppins"/>
              </a:rPr>
              <a:t>AI-POWERED PERSONAL TUTOR · GROUNDED IN REAL EXAM MARK SCHEMES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2050" y="4762500"/>
            <a:ext cx="14287500" cy="171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1250" b="1" i="0">
                <a:solidFill>
                  <a:srgbClr val="FF5CA3"/>
                </a:solidFill>
                <a:latin typeface="Poppins"/>
              </a:rPr>
              <a:t>Mentor</a:t>
            </a:r>
            <a:r>
              <a:rPr sz="11250" b="1" i="0">
                <a:solidFill>
                  <a:srgbClr val="7C3AED"/>
                </a:solidFill>
                <a:latin typeface="Poppins"/>
              </a:rPr>
              <a:t>Minds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6457950"/>
            <a:ext cx="142875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150" b="1" i="0">
                <a:solidFill>
                  <a:srgbClr val="140F1A"/>
                </a:solidFill>
                <a:latin typeface="Poppins"/>
              </a:rPr>
              <a:t>An examiner-grade AI tutor for every learner — available 24/7.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87825" y="4457700"/>
            <a:ext cx="3276600" cy="3162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715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887825" y="4667250"/>
            <a:ext cx="32766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800" b="1" i="0">
                <a:solidFill>
                  <a:srgbClr val="FF5CA3"/>
                </a:solidFill>
                <a:latin typeface="Poppins"/>
              </a:rPr>
              <a:t>Scan for live demo &amp; source</a:t>
            </a:r>
          </a:p>
        </p:txBody>
      </p:sp>
      <p:pic>
        <p:nvPicPr>
          <p:cNvPr id="8" name="Picture 7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6475" y="5086350"/>
            <a:ext cx="2019300" cy="2019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887825" y="7162800"/>
            <a:ext cx="3276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350" b="1" i="0">
                <a:solidFill>
                  <a:srgbClr val="140F1A"/>
                </a:solidFill>
                <a:latin typeface="Roboto Mono"/>
              </a:rPr>
              <a:t>github.com/</a:t>
            </a:r>
            <a:r>
              <a:rPr sz="1350" b="1" i="0">
                <a:solidFill>
                  <a:srgbClr val="7C3AED"/>
                </a:solidFill>
                <a:latin typeface="Roboto Mono"/>
              </a:rPr>
              <a:t>Arnobrizwan/mentormind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7750" y="7886700"/>
            <a:ext cx="19288125" cy="335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715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33500" y="8134350"/>
            <a:ext cx="533400" cy="533400"/>
          </a:xfrm>
          <a:prstGeom prst="ellipse">
            <a:avLst/>
          </a:prstGeom>
          <a:solidFill>
            <a:srgbClr val="FF5CA3"/>
          </a:solidFill>
          <a:ln w="3810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33500" y="8134350"/>
            <a:ext cx="5334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48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8350" y="8115300"/>
            <a:ext cx="18011775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920" b="1" i="0">
                <a:solidFill>
                  <a:srgbClr val="FF5CA3"/>
                </a:solidFill>
                <a:latin typeface="Poppins"/>
              </a:rPr>
              <a:t>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8782050"/>
            <a:ext cx="18716625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80" b="0" i="0">
                <a:solidFill>
                  <a:srgbClr val="3A2F42"/>
                </a:solidFill>
                <a:latin typeface="Poppins"/>
              </a:rPr>
              <a:t>Most students cannot get help the moment they are stuck. Quality tutoring remains expensive, scarce, and one-size-fits-all — so doubts pile up and learning gaps widen.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33500" y="9525000"/>
            <a:ext cx="6067425" cy="1447800"/>
          </a:xfrm>
          <a:prstGeom prst="roundRect">
            <a:avLst>
              <a:gd name="adj" fmla="val 8000"/>
            </a:avLst>
          </a:prstGeom>
          <a:solidFill>
            <a:srgbClr val="FFF5FA"/>
          </a:solidFill>
          <a:ln w="3810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43050" y="9677400"/>
            <a:ext cx="5648325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140F1A"/>
                </a:solidFill>
                <a:latin typeface="Poppins"/>
              </a:rPr>
              <a:t>🎓  No personalized tutoring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3050" y="10115550"/>
            <a:ext cx="5648325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50" b="0" i="0">
                <a:solidFill>
                  <a:srgbClr val="3A2F42"/>
                </a:solidFill>
                <a:latin typeface="Poppins"/>
              </a:rPr>
              <a:t>One teacher to 40+ students means individual questions go unanswered, and weaker learners fall behind.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48575" y="9525000"/>
            <a:ext cx="6067425" cy="1447800"/>
          </a:xfrm>
          <a:prstGeom prst="roundRect">
            <a:avLst>
              <a:gd name="adj" fmla="val 8000"/>
            </a:avLst>
          </a:prstGeom>
          <a:solidFill>
            <a:srgbClr val="FFF5FA"/>
          </a:solidFill>
          <a:ln w="3810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58125" y="9677400"/>
            <a:ext cx="5648325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140F1A"/>
                </a:solidFill>
                <a:latin typeface="Poppins"/>
              </a:rPr>
              <a:t>💸  High tuition costs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8125" y="10115550"/>
            <a:ext cx="5648325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50" b="0" i="0">
                <a:solidFill>
                  <a:srgbClr val="3A2F42"/>
                </a:solidFill>
                <a:latin typeface="Poppins"/>
              </a:rPr>
              <a:t>Private tutoring runs RM50–150 per hour — out of reach for the families who need support the most.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963650" y="9525000"/>
            <a:ext cx="6067425" cy="1447800"/>
          </a:xfrm>
          <a:prstGeom prst="roundRect">
            <a:avLst>
              <a:gd name="adj" fmla="val 8000"/>
            </a:avLst>
          </a:prstGeom>
          <a:solidFill>
            <a:srgbClr val="FFF5FA"/>
          </a:solidFill>
          <a:ln w="3810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0" y="9677400"/>
            <a:ext cx="5648325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140F1A"/>
                </a:solidFill>
                <a:latin typeface="Poppins"/>
              </a:rPr>
              <a:t>📡  Limited access to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0" y="10115550"/>
            <a:ext cx="5648325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50" b="0" i="0">
                <a:solidFill>
                  <a:srgbClr val="3A2F42"/>
                </a:solidFill>
                <a:latin typeface="Poppins"/>
              </a:rPr>
              <a:t>Rural and low-income learners lack reliable, on-demand help after school hours or offline.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7750" y="11525250"/>
            <a:ext cx="6286500" cy="960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715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33500" y="11772900"/>
            <a:ext cx="533400" cy="533400"/>
          </a:xfrm>
          <a:prstGeom prst="ellipse">
            <a:avLst/>
          </a:prstGeom>
          <a:solidFill>
            <a:srgbClr val="FF5CA3"/>
          </a:solidFill>
          <a:ln w="3810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33500" y="11772900"/>
            <a:ext cx="5334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48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8350" y="11753850"/>
            <a:ext cx="501015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920" b="1" i="0">
                <a:solidFill>
                  <a:srgbClr val="FF5CA3"/>
                </a:solidFill>
                <a:latin typeface="Poppins"/>
              </a:rPr>
              <a:t>Why It's Different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33500" y="12430125"/>
            <a:ext cx="5715000" cy="2076450"/>
          </a:xfrm>
          <a:prstGeom prst="roundRect">
            <a:avLst>
              <a:gd name="adj" fmla="val 10000"/>
            </a:avLst>
          </a:prstGeom>
          <a:solidFill>
            <a:srgbClr val="FF5CA3"/>
          </a:solidFill>
          <a:ln w="3810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43050" y="12592050"/>
            <a:ext cx="5295900" cy="1790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D23F"/>
                </a:solidFill>
                <a:latin typeface="Roboto Mono"/>
              </a:rPr>
              <a:t>NOVEL CONTRIBUTION</a:t>
            </a:r>
          </a:p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Poppins"/>
              </a:rPr>
              <a:t>A tutor that grounds every answer in real Cambridge mark schemes — a self-hosted retrieval model returns examiner working and cites the exact paper, with an optional fine-tuned (LoRA) model. No third-party AI APIs.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3500" y="14620875"/>
            <a:ext cx="5715000" cy="1028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20" b="1" i="0">
                <a:solidFill>
                  <a:srgbClr val="7C3AED"/>
                </a:solidFill>
                <a:latin typeface="Poppins"/>
              </a:rPr>
              <a:t>vs. general chatbots (ChatGPT)</a:t>
            </a:r>
          </a:p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3A2F42"/>
                </a:solidFill>
                <a:latin typeface="Poppins"/>
              </a:rPr>
              <a:t>Replies are drawn from the official mark scheme and cite their source — not hallucinated — and cost $0 in AI API fees.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3500" y="15706725"/>
            <a:ext cx="5715000" cy="1028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20" b="1" i="0">
                <a:solidFill>
                  <a:srgbClr val="7C3AED"/>
                </a:solidFill>
                <a:latin typeface="Poppins"/>
              </a:rPr>
              <a:t>vs. Khan Academy</a:t>
            </a:r>
          </a:p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3A2F42"/>
                </a:solidFill>
                <a:latin typeface="Poppins"/>
              </a:rPr>
              <a:t>Built around the exact Cambridge syllabus (20 subjects) with examiner-grade worked solutions, on a fully self-hosted, free-tier stack.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3500" y="16792575"/>
            <a:ext cx="5715000" cy="1028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20" b="1" i="0">
                <a:solidFill>
                  <a:srgbClr val="7C3AED"/>
                </a:solidFill>
                <a:latin typeface="Poppins"/>
              </a:rPr>
              <a:t>vs. Duolingo</a:t>
            </a:r>
          </a:p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3A2F42"/>
                </a:solidFill>
                <a:latin typeface="Poppins"/>
              </a:rPr>
              <a:t>Covers full academic subjects — Maths &amp; Sciences — with step-by-step solutions, not just language drills.</a:t>
            </a:r>
          </a:p>
        </p:txBody>
      </p:sp>
      <p:pic>
        <p:nvPicPr>
          <p:cNvPr id="33" name="Picture 32" descr="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1950" y="11620500"/>
            <a:ext cx="5572125" cy="96964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096250" y="21221700"/>
            <a:ext cx="5191125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 i="0">
                <a:solidFill>
                  <a:srgbClr val="7C3AED"/>
                </a:solidFill>
                <a:latin typeface="Roboto Mono"/>
              </a:rPr>
              <a:t>↑ The live app: a mark-scheme-grounded solution, a quiz, and progress tracking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049375" y="11525250"/>
            <a:ext cx="6286500" cy="960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715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4335125" y="11772900"/>
            <a:ext cx="533400" cy="533400"/>
          </a:xfrm>
          <a:prstGeom prst="ellipse">
            <a:avLst/>
          </a:prstGeom>
          <a:solidFill>
            <a:srgbClr val="FF5CA3"/>
          </a:solidFill>
          <a:ln w="3810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335125" y="11772900"/>
            <a:ext cx="5334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48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39975" y="11753850"/>
            <a:ext cx="501015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920" b="1" i="0">
                <a:solidFill>
                  <a:srgbClr val="FF5CA3"/>
                </a:solidFill>
                <a:latin typeface="Poppins"/>
              </a:rPr>
              <a:t>AI Under the Hood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35125" y="12382500"/>
            <a:ext cx="666750" cy="666750"/>
          </a:xfrm>
          <a:prstGeom prst="roundRect">
            <a:avLst>
              <a:gd name="adj" fmla="val 18000"/>
            </a:avLst>
          </a:prstGeom>
          <a:solidFill>
            <a:srgbClr val="FFF5FA"/>
          </a:solidFill>
          <a:ln w="3810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335125" y="12382500"/>
            <a:ext cx="666750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700" b="1" i="0">
                <a:solidFill>
                  <a:srgbClr val="140F1A"/>
                </a:solidFill>
                <a:latin typeface="Poppins"/>
              </a:rPr>
              <a:t>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173325" y="12382500"/>
            <a:ext cx="4876800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140F1A"/>
                </a:solidFill>
                <a:latin typeface="Poppins"/>
              </a:rPr>
              <a:t>Machine Learning</a:t>
            </a:r>
          </a:p>
          <a:p>
            <a:pPr algn="l">
              <a:lnSpc>
                <a:spcPct val="106000"/>
              </a:lnSpc>
            </a:pPr>
            <a:r>
              <a:rPr sz="1650" b="0" i="0">
                <a:solidFill>
                  <a:srgbClr val="3A2F42"/>
                </a:solidFill>
                <a:latin typeface="Poppins"/>
              </a:rPr>
              <a:t>A self-hosted retrieval model matches questions to the mark-scheme corpus, with an optional LoRA fine-tune (Qwen2.5) — no third-party AI APIs.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335125" y="13716000"/>
            <a:ext cx="666750" cy="666750"/>
          </a:xfrm>
          <a:prstGeom prst="roundRect">
            <a:avLst>
              <a:gd name="adj" fmla="val 18000"/>
            </a:avLst>
          </a:prstGeom>
          <a:solidFill>
            <a:srgbClr val="FFF5FA"/>
          </a:solidFill>
          <a:ln w="3810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335125" y="13716000"/>
            <a:ext cx="666750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700" b="1" i="0">
                <a:solidFill>
                  <a:srgbClr val="140F1A"/>
                </a:solidFill>
                <a:latin typeface="Poppins"/>
              </a:rPr>
              <a:t>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173325" y="13716000"/>
            <a:ext cx="4876800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140F1A"/>
                </a:solidFill>
                <a:latin typeface="Poppins"/>
              </a:rPr>
              <a:t>Natural Language Processing</a:t>
            </a:r>
          </a:p>
          <a:p>
            <a:pPr algn="l">
              <a:lnSpc>
                <a:spcPct val="106000"/>
              </a:lnSpc>
            </a:pPr>
            <a:r>
              <a:rPr sz="1650" b="0" i="0">
                <a:solidFill>
                  <a:srgbClr val="3A2F42"/>
                </a:solidFill>
                <a:latin typeface="Poppins"/>
              </a:rPr>
              <a:t>Understands a typed question, finds the closest Cambridge mark scheme, and explains the answer clearly, step by step.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335125" y="15049500"/>
            <a:ext cx="666750" cy="666750"/>
          </a:xfrm>
          <a:prstGeom prst="roundRect">
            <a:avLst>
              <a:gd name="adj" fmla="val 18000"/>
            </a:avLst>
          </a:prstGeom>
          <a:solidFill>
            <a:srgbClr val="FFF5FA"/>
          </a:solidFill>
          <a:ln w="3810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335125" y="15049500"/>
            <a:ext cx="666750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700" b="1" i="0">
                <a:solidFill>
                  <a:srgbClr val="140F1A"/>
                </a:solidFill>
                <a:latin typeface="Poppins"/>
              </a:rPr>
              <a:t>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173325" y="15049500"/>
            <a:ext cx="4876800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140F1A"/>
                </a:solidFill>
                <a:latin typeface="Poppins"/>
              </a:rPr>
              <a:t>Computer Vision</a:t>
            </a:r>
          </a:p>
          <a:p>
            <a:pPr algn="l">
              <a:lnSpc>
                <a:spcPct val="106000"/>
              </a:lnSpc>
            </a:pPr>
            <a:r>
              <a:rPr sz="1650" b="0" i="0">
                <a:solidFill>
                  <a:srgbClr val="3A2F42"/>
                </a:solidFill>
                <a:latin typeface="Poppins"/>
              </a:rPr>
              <a:t>OpenCV powers exam proctoring (face detection), OMR bubble-sheet auto-grading, and Tesseract OCR for scanned work.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335125" y="16383000"/>
            <a:ext cx="666750" cy="666750"/>
          </a:xfrm>
          <a:prstGeom prst="roundRect">
            <a:avLst>
              <a:gd name="adj" fmla="val 18000"/>
            </a:avLst>
          </a:prstGeom>
          <a:solidFill>
            <a:srgbClr val="FFF5FA"/>
          </a:solidFill>
          <a:ln w="3810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335125" y="16383000"/>
            <a:ext cx="666750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700" b="1" i="0">
                <a:solidFill>
                  <a:srgbClr val="140F1A"/>
                </a:solidFill>
                <a:latin typeface="Poppins"/>
              </a:rPr>
              <a:t>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173325" y="16383000"/>
            <a:ext cx="4876800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140F1A"/>
                </a:solidFill>
                <a:latin typeface="Poppins"/>
              </a:rPr>
              <a:t>Predictive Analytics &amp; MLOps</a:t>
            </a:r>
          </a:p>
          <a:p>
            <a:pPr algn="l">
              <a:lnSpc>
                <a:spcPct val="106000"/>
              </a:lnSpc>
            </a:pPr>
            <a:r>
              <a:rPr sz="1650" b="0" i="0">
                <a:solidFill>
                  <a:srgbClr val="3A2F42"/>
                </a:solidFill>
                <a:latin typeface="Poppins"/>
              </a:rPr>
              <a:t>A dropout-risk model flags at-risk learners and recommends courses, shipped through a DVC + MLflow pipeline with a drift gate.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47750" y="21450300"/>
            <a:ext cx="11715750" cy="3505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715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333500" y="21697950"/>
            <a:ext cx="533400" cy="533400"/>
          </a:xfrm>
          <a:prstGeom prst="ellipse">
            <a:avLst/>
          </a:prstGeom>
          <a:solidFill>
            <a:srgbClr val="FF5CA3"/>
          </a:solidFill>
          <a:ln w="3810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33500" y="21697950"/>
            <a:ext cx="5334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48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38350" y="21678900"/>
            <a:ext cx="104394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920" b="1" i="0">
                <a:solidFill>
                  <a:srgbClr val="FF5CA3"/>
                </a:solidFill>
                <a:latin typeface="Poppins"/>
              </a:rPr>
              <a:t>Evidence &amp; Impact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333500" y="22440900"/>
            <a:ext cx="3562350" cy="1104900"/>
          </a:xfrm>
          <a:prstGeom prst="roundRect">
            <a:avLst>
              <a:gd name="adj" fmla="val 10000"/>
            </a:avLst>
          </a:prstGeom>
          <a:solidFill>
            <a:srgbClr val="FFF5FA"/>
          </a:solidFill>
          <a:ln w="3810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33500" y="22536150"/>
            <a:ext cx="35623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800" b="1" i="0">
                <a:solidFill>
                  <a:srgbClr val="FF5CA3"/>
                </a:solidFill>
                <a:latin typeface="Poppins"/>
              </a:rPr>
              <a:t>1,142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33500" y="23241000"/>
            <a:ext cx="35623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 i="0">
                <a:solidFill>
                  <a:srgbClr val="140F1A"/>
                </a:solidFill>
                <a:latin typeface="Poppins"/>
              </a:rPr>
              <a:t>mark-scheme answers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124450" y="22440900"/>
            <a:ext cx="3562350" cy="1104900"/>
          </a:xfrm>
          <a:prstGeom prst="roundRect">
            <a:avLst>
              <a:gd name="adj" fmla="val 10000"/>
            </a:avLst>
          </a:prstGeom>
          <a:solidFill>
            <a:srgbClr val="FFF5FA"/>
          </a:solidFill>
          <a:ln w="3810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24450" y="22536150"/>
            <a:ext cx="35623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800" b="1" i="0">
                <a:solidFill>
                  <a:srgbClr val="7C3AED"/>
                </a:solidFill>
                <a:latin typeface="Poppins"/>
              </a:rPr>
              <a:t>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24450" y="23241000"/>
            <a:ext cx="35623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 i="0">
                <a:solidFill>
                  <a:srgbClr val="140F1A"/>
                </a:solidFill>
                <a:latin typeface="Poppins"/>
              </a:rPr>
              <a:t>Cambridge subjects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15400" y="22440900"/>
            <a:ext cx="3562350" cy="1104900"/>
          </a:xfrm>
          <a:prstGeom prst="roundRect">
            <a:avLst>
              <a:gd name="adj" fmla="val 10000"/>
            </a:avLst>
          </a:prstGeom>
          <a:solidFill>
            <a:srgbClr val="FFF5FA"/>
          </a:solidFill>
          <a:ln w="3810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15400" y="22536150"/>
            <a:ext cx="35623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800" b="1" i="0">
                <a:solidFill>
                  <a:srgbClr val="16A5C4"/>
                </a:solidFill>
                <a:latin typeface="Poppins"/>
              </a:rPr>
              <a:t>$0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15400" y="23241000"/>
            <a:ext cx="35623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 i="0">
                <a:solidFill>
                  <a:srgbClr val="140F1A"/>
                </a:solidFill>
                <a:latin typeface="Poppins"/>
              </a:rPr>
              <a:t>third-party AI cost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33500" y="23717250"/>
            <a:ext cx="1114425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80" b="1" i="0">
                <a:solidFill>
                  <a:srgbClr val="7C3AED"/>
                </a:solidFill>
                <a:latin typeface="Poppins"/>
              </a:rPr>
              <a:t>Evidence: </a:t>
            </a:r>
            <a:r>
              <a:rPr sz="1580" b="0" i="0">
                <a:solidFill>
                  <a:srgbClr val="3A2F42"/>
                </a:solidFill>
                <a:latin typeface="Poppins"/>
              </a:rPr>
              <a:t>1,521 Cambridge past-paper documents ingested · every answer cites its exact mark scheme · k6 load-tested · 100% self-hosted on a free-tier stack, available 24/7.</a:t>
            </a:r>
          </a:p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3A2F42"/>
                </a:solidFill>
                <a:latin typeface="Roboto Mono"/>
              </a:rPr>
              <a:t>Classroom pilot in progress — learning-gain &amp; satisfaction results to follow.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3144500" y="21450300"/>
            <a:ext cx="7191375" cy="3505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715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3430250" y="21697950"/>
            <a:ext cx="533400" cy="533400"/>
          </a:xfrm>
          <a:prstGeom prst="ellipse">
            <a:avLst/>
          </a:prstGeom>
          <a:solidFill>
            <a:srgbClr val="FF5CA3"/>
          </a:solidFill>
          <a:ln w="3810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430250" y="21697950"/>
            <a:ext cx="5334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48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135100" y="21678900"/>
            <a:ext cx="5915025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920" b="1" i="0">
                <a:solidFill>
                  <a:srgbClr val="FF5CA3"/>
                </a:solidFill>
                <a:latin typeface="Poppins"/>
              </a:rPr>
              <a:t>UN SDG Alignment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3430250" y="22440900"/>
            <a:ext cx="3200400" cy="2209800"/>
          </a:xfrm>
          <a:prstGeom prst="roundRect">
            <a:avLst>
              <a:gd name="adj" fmla="val 8000"/>
            </a:avLst>
          </a:prstGeom>
          <a:solidFill>
            <a:srgbClr val="C5192D"/>
          </a:solidFill>
          <a:ln w="4826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3620750" y="22555200"/>
            <a:ext cx="28194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5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620750" y="23355300"/>
            <a:ext cx="28194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720" b="1" i="0">
                <a:solidFill>
                  <a:srgbClr val="FFFFFF"/>
                </a:solidFill>
                <a:latin typeface="Poppins"/>
              </a:rPr>
              <a:t>Quality Education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620750" y="23774400"/>
            <a:ext cx="28194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FFFFFF"/>
                </a:solidFill>
                <a:latin typeface="Poppins"/>
              </a:rPr>
              <a:t>Free, examiner-grade tutoring for every learner, any time.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6840200" y="22440900"/>
            <a:ext cx="3200400" cy="2209800"/>
          </a:xfrm>
          <a:prstGeom prst="roundRect">
            <a:avLst>
              <a:gd name="adj" fmla="val 8000"/>
            </a:avLst>
          </a:prstGeom>
          <a:solidFill>
            <a:srgbClr val="DD1367"/>
          </a:solidFill>
          <a:ln w="48260">
            <a:solidFill>
              <a:srgbClr val="140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030700" y="22555200"/>
            <a:ext cx="28194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500" b="1" i="0">
                <a:solidFill>
                  <a:srgbClr val="FFFFFF"/>
                </a:solidFill>
                <a:latin typeface="Poppins"/>
              </a:rPr>
              <a:t>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030700" y="23355300"/>
            <a:ext cx="28194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720" b="1" i="0">
                <a:solidFill>
                  <a:srgbClr val="FFFFFF"/>
                </a:solidFill>
                <a:latin typeface="Poppins"/>
              </a:rPr>
              <a:t>Reduced Inequalities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030700" y="23774400"/>
            <a:ext cx="28194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FFFFFF"/>
                </a:solidFill>
                <a:latin typeface="Poppins"/>
              </a:rPr>
              <a:t>The same support for rural &amp; low-income students as elite tutoring.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47750" y="25336500"/>
            <a:ext cx="1928812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950" b="0" i="0">
                <a:solidFill>
                  <a:srgbClr val="140F1A"/>
                </a:solidFill>
                <a:latin typeface="Roboto Mono"/>
              </a:rPr>
              <a:t>Full-stack: Django · FastAPI · Angular · self-hosted retrieval + LoRA tutor · OpenCV · Tesseract · Mistral-OCR ingest · DVC + MLflow · Redis · Postgres · Docker · Kubernetes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47750" y="25946100"/>
            <a:ext cx="19288125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320" b="1" i="0">
                <a:solidFill>
                  <a:srgbClr val="140F1A"/>
                </a:solidFill>
                <a:latin typeface="Poppins"/>
              </a:rPr>
              <a:t>Arnob Rizwan Ahmad · A22EC4005 · Faculty of Computing, UTM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7750" y="26384250"/>
            <a:ext cx="19288125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020" b="1" i="0">
                <a:solidFill>
                  <a:srgbClr val="7C3AED"/>
                </a:solidFill>
                <a:latin typeface="Poppins"/>
              </a:rPr>
              <a:t>Mentor: Dr. Ruhaidah Binti Samsudin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Class="entr" presetID="10" fill="hold" nodeType="clickEffect">
                            <p:stCondLst>
                              <p:cond delay="0"/>
                            </p:stCondLst>
                            <p:childTnLst>
                              <p:par>
                                <p:cTn id="5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 manual="1"/>
                                    <p:animEffect transition="in" filter="fade">
                                      <p:cBhvr>
                                        <p:cTn id="6" dur="45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60"/>
                      </p:stCondLst>
                      <p:childTnLst>
                        <p:par>
                          <p:cTn id="14" presetClass="entr" preset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 manual="1"/>
                                    <p:animEffect transition="in" filter="fade">
                                      <p:cBhvr>
                                        <p:cTn id="16" dur="45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20"/>
                      </p:stCondLst>
                      <p:childTnLst>
                        <p:par>
                          <p:cTn id="24" presetClass="entr" preset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 manual="1"/>
                                    <p:animEffect transition="in" filter="fade">
                                      <p:cBhvr>
                                        <p:cTn id="26" dur="450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80"/>
                      </p:stCondLst>
                      <p:childTnLst>
                        <p:par>
                          <p:cTn id="34" presetClass="entr" preset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5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 manual="1"/>
                                    <p:animEffect transition="in" filter="fade">
                                      <p:cBhvr>
                                        <p:cTn id="36" dur="450" fill="hold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640"/>
                      </p:stCondLst>
                      <p:childTnLst>
                        <p:par>
                          <p:cTn id="44" presetClass="entr" preset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5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 manual="1"/>
                                    <p:animEffect transition="in" filter="fade">
                                      <p:cBhvr>
                                        <p:cTn id="46" dur="450" fill="hold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800"/>
                      </p:stCondLst>
                      <p:childTnLst>
                        <p:par>
                          <p:cTn id="54" presetClass="entr" preset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5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 manual="1"/>
                                    <p:animEffect transition="in" filter="fade">
                                      <p:cBhvr>
                                        <p:cTn id="56" dur="450" fill="hold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960"/>
                      </p:stCondLst>
                      <p:childTnLst>
                        <p:par>
                          <p:cTn id="64" presetClass="entr" preset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5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 manual="1"/>
                                    <p:animEffect transition="in" filter="fade">
                                      <p:cBhvr>
                                        <p:cTn id="66" dur="450" fill="hold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1120"/>
                      </p:stCondLst>
                      <p:childTnLst>
                        <p:par>
                          <p:cTn id="74" presetClass="entr" preset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5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 manual="1"/>
                                    <p:animEffect transition="in" filter="fade">
                                      <p:cBhvr>
                                        <p:cTn id="76" dur="450" fill="hold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1280"/>
                      </p:stCondLst>
                      <p:childTnLst>
                        <p:par>
                          <p:cTn id="84" presetClass="entr" preset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5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 manual="1"/>
                                    <p:animEffect transition="in" filter="fade">
                                      <p:cBhvr>
                                        <p:cTn id="86" dur="450" fill="hold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1440"/>
                      </p:stCondLst>
                      <p:childTnLst>
                        <p:par>
                          <p:cTn id="94" presetClass="entr" preset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5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 manual="1"/>
                                    <p:animEffect transition="in" filter="fade">
                                      <p:cBhvr>
                                        <p:cTn id="96" dur="450" fill="hold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1600"/>
                      </p:stCondLst>
                      <p:childTnLst>
                        <p:par>
                          <p:cTn id="104" presetClass="entr" preset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5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 manual="1"/>
                                    <p:animEffect transition="in" filter="fade">
                                      <p:cBhvr>
                                        <p:cTn id="106" dur="450" fill="hold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